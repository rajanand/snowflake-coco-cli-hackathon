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embeddedFontLst>
    <p:embeddedFont>
      <p:font typeface="Manrope" panose="020B0604020202020204" charset="0"/>
      <p:regular r:id="rId9"/>
      <p:bold r:id="rId10"/>
    </p:embeddedFont>
    <p:embeddedFont>
      <p:font typeface="Manrope SemiBold" panose="020B0604020202020204" charset="0"/>
      <p:regular r:id="rId11"/>
      <p:bold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83C7A7-5E68-4258-9E18-7776A0BCFDC3}" v="3" dt="2026-10-04T16:28:43.5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Framexexexe 23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402808" y="3192600"/>
            <a:ext cx="71529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50" tIns="76750" rIns="76750" bIns="76750" anchor="t" anchorCtr="0">
            <a:normAutofit/>
          </a:bodyPr>
          <a:lstStyle/>
          <a:p>
            <a:pPr>
              <a:lnSpc>
                <a:spcPct val="80000"/>
              </a:lnSpc>
              <a:buSzPts val="1343"/>
            </a:pPr>
            <a:r>
              <a:rPr lang="en-GB" sz="1300" b="0" i="0" u="none" strike="noStrike" cap="none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</a:t>
            </a:r>
            <a:r>
              <a:rPr lang="en-GB" sz="13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 </a:t>
            </a:r>
            <a:r>
              <a:rPr lang="en-GB" sz="1300" dirty="0" err="1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Lagom</a:t>
            </a:r>
            <a:endParaRPr sz="1343" b="0" i="0" u="none" strike="noStrike" cap="none" dirty="0" err="1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02788" y="4250161"/>
            <a:ext cx="8379533" cy="572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50" tIns="76750" rIns="76750" bIns="76750" anchor="t" anchorCtr="0">
            <a:noAutofit/>
          </a:bodyPr>
          <a:lstStyle/>
          <a:p>
            <a:pPr>
              <a:lnSpc>
                <a:spcPct val="170000"/>
              </a:lnSpc>
              <a:buSzPts val="1343"/>
            </a:pPr>
            <a:r>
              <a:rPr lang="en-GB" sz="1050" b="0" i="0" u="none" strike="noStrike" cap="none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</a:t>
            </a:r>
            <a:r>
              <a:rPr lang="en-GB" sz="105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 </a:t>
            </a:r>
            <a:r>
              <a:rPr lang="en-GB" sz="1050" dirty="0">
                <a:solidFill>
                  <a:srgbClr val="202729"/>
                </a:solidFill>
                <a:latin typeface="Manrope SemiBold"/>
                <a:ea typeface="Manrope SemiBold"/>
                <a:sym typeface="Manrope SemiBold"/>
              </a:rPr>
              <a:t>Five supply-chain systems compute the same KPIs differently — this project builds a governed Semantic View so every team gets one trustworthy answer.</a:t>
            </a:r>
            <a:endParaRPr lang="en-US" sz="1050" b="0" i="0" u="none" strike="noStrike" cap="none">
              <a:solidFill>
                <a:srgbClr val="202729"/>
              </a:solidFill>
              <a:latin typeface="Manrope SemiBold"/>
              <a:ea typeface="Manrope SemiBold"/>
              <a:cs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402798" y="3534656"/>
            <a:ext cx="71529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50" tIns="76750" rIns="76750" bIns="76750" anchor="t" anchorCtr="0">
            <a:normAutofit/>
          </a:bodyPr>
          <a:lstStyle/>
          <a:p>
            <a:pPr>
              <a:lnSpc>
                <a:spcPct val="80000"/>
              </a:lnSpc>
              <a:buSzPts val="1343"/>
            </a:pPr>
            <a:r>
              <a:rPr lang="en-GB" sz="1300" b="0" i="0" u="none" strike="noStrike" cap="none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</a:t>
            </a:r>
            <a:r>
              <a:rPr lang="en-GB" sz="13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 RAJANAND ILANGOVAN</a:t>
            </a:r>
            <a:endParaRPr sz="1343" b="0" i="0" u="none" strike="noStrike" cap="none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02788" y="3907261"/>
            <a:ext cx="71529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50" tIns="76750" rIns="76750" bIns="76750" anchor="t" anchorCtr="0">
            <a:normAutofit/>
          </a:bodyPr>
          <a:lstStyle/>
          <a:p>
            <a:pPr>
              <a:lnSpc>
                <a:spcPct val="70000"/>
              </a:lnSpc>
              <a:buSzPts val="1343"/>
            </a:pPr>
            <a:r>
              <a:rPr lang="en-GB" sz="1300" b="0" i="0" u="none" strike="noStrike" cap="none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Size :</a:t>
            </a:r>
            <a:r>
              <a:rPr lang="en-GB" sz="13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 1</a:t>
            </a:r>
            <a:endParaRPr sz="1343" b="0" i="0" u="none" strike="noStrike" cap="none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 title="Framewsxexexe 23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329100" y="600420"/>
            <a:ext cx="8485800" cy="42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>
              <a:lnSpc>
                <a:spcPct val="115000"/>
              </a:lnSpc>
              <a:buSzPct val="55000"/>
            </a:pPr>
            <a:r>
              <a:rPr lang="en-GB" sz="1700" b="1" i="0" u="none" strike="noStrike" cap="none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Submission Guidelines:</a:t>
            </a:r>
            <a:br>
              <a:rPr lang="en-GB" sz="1700" b="1" i="0" u="none" strike="noStrike" cap="none" dirty="0">
                <a:latin typeface="Manrope"/>
                <a:ea typeface="Manrope"/>
                <a:cs typeface="Manrope"/>
              </a:rPr>
            </a:br>
            <a:r>
              <a:rPr lang="en-GB" b="1" i="1" dirty="0">
                <a:solidFill>
                  <a:srgbClr val="202729"/>
                </a:solidFill>
                <a:latin typeface="Manrope"/>
                <a:ea typeface="Manrope"/>
                <a:cs typeface="Manrope"/>
              </a:rPr>
              <a:t>(Things to add on the submission deck)</a:t>
            </a:r>
            <a:endParaRPr lang="en-US" b="1" i="1" u="none" strike="noStrike" cap="none" dirty="0">
              <a:solidFill>
                <a:srgbClr val="202729"/>
              </a:solidFill>
              <a:latin typeface="Manrope"/>
              <a:ea typeface="Manrope"/>
              <a:cs typeface="Manrope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550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1. Problem Brief</a:t>
            </a:r>
            <a:endParaRPr sz="1700" b="1" i="0" u="none" strike="noStrike" cap="none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914400" marR="0" lvl="0" indent="-31178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 b="0" i="0" u="none" strike="noStrike" cap="none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What real business problem does this solve?</a:t>
            </a:r>
            <a:endParaRPr sz="1700" b="0" i="0" u="none" strike="noStrike" cap="none" dirty="0">
              <a:solidFill>
                <a:srgbClr val="202729"/>
              </a:solidFill>
              <a:latin typeface="Manrope"/>
              <a:ea typeface="Manrope"/>
              <a:cs typeface="Manrope"/>
            </a:endParaRPr>
          </a:p>
          <a:p>
            <a:pPr marL="914400" marR="0" lvl="0" indent="-31178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 b="0" i="0" u="none" strike="noStrike" cap="none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Who is the target user/persona?</a:t>
            </a:r>
            <a:endParaRPr sz="1700" b="0" i="0" u="none" strike="noStrike" cap="none" dirty="0">
              <a:solidFill>
                <a:srgbClr val="202729"/>
              </a:solidFill>
              <a:latin typeface="Manrope"/>
              <a:ea typeface="Manrope"/>
              <a:cs typeface="Manrope"/>
            </a:endParaRPr>
          </a:p>
          <a:p>
            <a:pPr marL="914400" marR="0" lvl="0" indent="-31178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 b="0" i="0" u="none" strike="noStrike" cap="none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What is the current pain point and how does this improve it?</a:t>
            </a:r>
            <a:endParaRPr sz="1700" b="0" i="0" u="none" strike="noStrike" cap="none" dirty="0">
              <a:solidFill>
                <a:srgbClr val="202729"/>
              </a:solidFill>
              <a:latin typeface="Manrope"/>
              <a:ea typeface="Manrope"/>
              <a:cs typeface="Manrope"/>
            </a:endParaRPr>
          </a:p>
          <a:p>
            <a:pPr marL="914400" marR="0" lvl="0" indent="-31178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 b="0" i="0" u="none" strike="noStrike" cap="none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Industry/domain context</a:t>
            </a:r>
            <a:endParaRPr sz="1700" b="0" i="0" u="none" strike="noStrike" cap="none" dirty="0">
              <a:solidFill>
                <a:srgbClr val="202729"/>
              </a:solidFill>
              <a:latin typeface="Manrope"/>
              <a:ea typeface="Manrope"/>
              <a:cs typeface="Manrope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550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2. Architecture Diagram</a:t>
            </a:r>
            <a:endParaRPr sz="1700" b="1" i="0" u="none" strike="noStrike" cap="none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914400" marR="0" lvl="0" indent="-31178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 b="0" i="0" u="none" strike="noStrike" cap="none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System design showing data flow</a:t>
            </a:r>
            <a:endParaRPr sz="1700" b="0" i="0" u="none" strike="noStrike" cap="none" dirty="0">
              <a:solidFill>
                <a:srgbClr val="202729"/>
              </a:solidFill>
              <a:latin typeface="Manrope"/>
              <a:ea typeface="Manrope"/>
              <a:cs typeface="Manrope"/>
            </a:endParaRPr>
          </a:p>
          <a:p>
            <a:pPr marL="914400" marR="0" lvl="0" indent="-31178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 b="0" i="0" u="none" strike="noStrike" cap="none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Which </a:t>
            </a:r>
            <a:r>
              <a:rPr lang="en-GB" sz="1700" b="0" i="0" u="none" strike="noStrike" cap="none" dirty="0" err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CoCo</a:t>
            </a:r>
            <a:r>
              <a:rPr lang="en-GB" sz="1700" b="0" i="0" u="none" strike="noStrike" cap="none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CLI skills are used and how they connect</a:t>
            </a:r>
            <a:endParaRPr sz="1700" b="0" i="0" u="none" strike="noStrike" cap="none" dirty="0">
              <a:solidFill>
                <a:srgbClr val="202729"/>
              </a:solidFill>
              <a:latin typeface="Manrope"/>
              <a:ea typeface="Manrope"/>
              <a:cs typeface="Manrope"/>
            </a:endParaRPr>
          </a:p>
          <a:p>
            <a:pPr marL="914400" marR="0" lvl="0" indent="-31178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 b="0" i="0" u="none" strike="noStrike" cap="none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Data sources (structured/unstructured)</a:t>
            </a:r>
            <a:endParaRPr sz="1700" b="0" i="0" u="none" strike="noStrike" cap="none" dirty="0">
              <a:solidFill>
                <a:srgbClr val="202729"/>
              </a:solidFill>
              <a:latin typeface="Manrope"/>
              <a:ea typeface="Manrope"/>
              <a:cs typeface="Manrope"/>
            </a:endParaRPr>
          </a:p>
          <a:p>
            <a:pPr marL="914400" marR="0" lvl="0" indent="-31178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 b="0" i="0" u="none" strike="noStrike" cap="none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How modular components plug together</a:t>
            </a:r>
            <a:endParaRPr sz="1700" b="0" i="0" u="none" strike="noStrike" cap="none" dirty="0">
              <a:solidFill>
                <a:srgbClr val="202729"/>
              </a:solidFill>
              <a:latin typeface="Manrope"/>
              <a:ea typeface="Manrope"/>
              <a:cs typeface="Manrope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3. Impact Statement</a:t>
            </a:r>
            <a:endParaRPr sz="1700" b="1" i="0" u="none" strike="noStrike" cap="none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914400" marR="0" lvl="0" indent="-31178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 b="0" i="0" u="none" strike="noStrike" cap="none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Measurable outcomes (time saved, accuracy improvement, etc.)</a:t>
            </a:r>
            <a:endParaRPr sz="1700" b="0" i="0" u="none" strike="noStrike" cap="none" dirty="0">
              <a:solidFill>
                <a:srgbClr val="202729"/>
              </a:solidFill>
              <a:latin typeface="Manrope"/>
              <a:ea typeface="Manrope"/>
              <a:cs typeface="Manrope"/>
            </a:endParaRPr>
          </a:p>
          <a:p>
            <a:pPr marL="914400" marR="0" lvl="0" indent="-31178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 b="0" i="0" u="none" strike="noStrike" cap="none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Scalability potential</a:t>
            </a:r>
            <a:endParaRPr sz="1700" b="0" i="0" u="none" strike="noStrike" cap="none" dirty="0">
              <a:solidFill>
                <a:srgbClr val="202729"/>
              </a:solidFill>
              <a:latin typeface="Manrope"/>
              <a:ea typeface="Manrope"/>
              <a:cs typeface="Manrope"/>
            </a:endParaRPr>
          </a:p>
          <a:p>
            <a:pPr marL="914400" marR="0" lvl="0" indent="-31178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 b="0" i="0" u="none" strike="noStrike" cap="none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How this extends beyond the demo</a:t>
            </a:r>
            <a:endParaRPr sz="1700" b="0" i="0" u="none" strike="noStrike" cap="none" dirty="0">
              <a:solidFill>
                <a:srgbClr val="202729"/>
              </a:solidFill>
              <a:latin typeface="Manrope"/>
              <a:ea typeface="Manrope"/>
              <a:cs typeface="Manro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Framewsxexexe 23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TextBox 69"/>
          <p:cNvSpPr txBox="1"/>
          <p:nvPr/>
        </p:nvSpPr>
        <p:spPr>
          <a:xfrm>
            <a:off x="411480" y="548640"/>
            <a:ext cx="8321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 i="0">
                <a:solidFill>
                  <a:srgbClr val="0074D6"/>
                </a:solidFill>
                <a:latin typeface="Manrope"/>
              </a:rPr>
              <a:t>Problem Brief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429768" y="1042415"/>
            <a:ext cx="1399032" cy="0"/>
          </a:xfrm>
          <a:prstGeom prst="line">
            <a:avLst/>
          </a:prstGeom>
          <a:ln w="28575">
            <a:solidFill>
              <a:srgbClr val="007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411480" y="1417320"/>
            <a:ext cx="39776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0">
                <a:solidFill>
                  <a:srgbClr val="0074D6"/>
                </a:solidFill>
                <a:latin typeface="Manrope"/>
              </a:rPr>
              <a:t>What real business problem does this solve?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11480" y="1709928"/>
            <a:ext cx="3977639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80" b="0" i="0">
                <a:solidFill>
                  <a:srgbClr val="202729"/>
                </a:solidFill>
                <a:latin typeface="Manrope"/>
              </a:rPr>
              <a:t>Supply chain data is scattered across ERP, TMS, Supplier Portal, IoT sensor, and Finance systems, each computing the same KPI differently. Ask “what's our On-Time Delivery rate?” and four systems give four different, individually defensible answers (89.4% / 91.3% / 78.6% / a biased IoT sample) — there is no shared source of truth.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663439" y="1417320"/>
            <a:ext cx="39776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0">
                <a:solidFill>
                  <a:srgbClr val="0074D6"/>
                </a:solidFill>
                <a:latin typeface="Manrope"/>
              </a:rPr>
              <a:t>Who is the target user / persona?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663439" y="1709928"/>
            <a:ext cx="3977639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80" b="0" i="0">
                <a:solidFill>
                  <a:srgbClr val="202729"/>
                </a:solidFill>
                <a:latin typeface="Manrope"/>
              </a:rPr>
              <a:t>Planning, Procurement, and Logistics analysts inside a Global Capability Center who all report the same supply-chain KPIs upward, but pull them from different source systems using different, undocumented definitions.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11480" y="2990088"/>
            <a:ext cx="39776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0">
                <a:solidFill>
                  <a:srgbClr val="0074D6"/>
                </a:solidFill>
                <a:latin typeface="Manrope"/>
              </a:rPr>
              <a:t>Current pain point → how this improves it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11480" y="3282696"/>
            <a:ext cx="3977639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80" b="0" i="0">
                <a:solidFill>
                  <a:srgbClr val="202729"/>
                </a:solidFill>
                <a:latin typeface="Manrope"/>
              </a:rPr>
              <a:t>Today each team's number is “correct” by its own definition, so leadership can't trust cross-team reporting. This project encodes ONE governed definition per metric as a native Snowflake Semantic View — every persona now gets the identical number (64.875% OTD), verified regardless of how the question is worded.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663439" y="2990088"/>
            <a:ext cx="39776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0">
                <a:solidFill>
                  <a:srgbClr val="0074D6"/>
                </a:solidFill>
                <a:latin typeface="Manrope"/>
              </a:rPr>
              <a:t>Industry / domain context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663439" y="3282696"/>
            <a:ext cx="3977639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80" b="0" i="0">
                <a:solidFill>
                  <a:srgbClr val="202729"/>
                </a:solidFill>
                <a:latin typeface="Manrope"/>
              </a:rPr>
              <a:t>Manufacturing / industrial supply chain — Supplier → Part → Plant → Shipment → Order → Customer, the exact entity chain called out in the challenge brief. 100% synthetic data; no proprietary or real GCC data used anywhere in the project.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Framewsxexexe 23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TextBox 74"/>
          <p:cNvSpPr txBox="1"/>
          <p:nvPr/>
        </p:nvSpPr>
        <p:spPr>
          <a:xfrm>
            <a:off x="411480" y="548640"/>
            <a:ext cx="8321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 i="0">
                <a:solidFill>
                  <a:srgbClr val="0074D6"/>
                </a:solidFill>
                <a:latin typeface="Manrope"/>
              </a:rPr>
              <a:t>Architecture Diagram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429768" y="1042415"/>
            <a:ext cx="1399032" cy="0"/>
          </a:xfrm>
          <a:prstGeom prst="line">
            <a:avLst/>
          </a:prstGeom>
          <a:ln w="28575">
            <a:solidFill>
              <a:srgbClr val="007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76"/>
          <p:cNvSpPr/>
          <p:nvPr/>
        </p:nvSpPr>
        <p:spPr>
          <a:xfrm>
            <a:off x="411480" y="1371600"/>
            <a:ext cx="1207008" cy="960120"/>
          </a:xfrm>
          <a:prstGeom prst="roundRect">
            <a:avLst/>
          </a:prstGeom>
          <a:solidFill>
            <a:srgbClr val="F2F7FC"/>
          </a:solidFill>
          <a:ln w="13970">
            <a:solidFill>
              <a:srgbClr val="007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050" b="1" i="0">
                <a:solidFill>
                  <a:srgbClr val="202729"/>
                </a:solidFill>
                <a:latin typeface="Manrope"/>
              </a:rPr>
              <a:t>Source</a:t>
            </a:r>
          </a:p>
          <a:p>
            <a:pPr algn="ctr"/>
            <a:r>
              <a:rPr sz="1050" b="1" i="0">
                <a:solidFill>
                  <a:srgbClr val="202729"/>
                </a:solidFill>
                <a:latin typeface="Manrope"/>
              </a:rPr>
              <a:t>Systems</a:t>
            </a:r>
          </a:p>
          <a:p>
            <a:pPr algn="ctr"/>
            <a:r>
              <a:rPr sz="800" b="0" i="0">
                <a:solidFill>
                  <a:srgbClr val="5B6466"/>
                </a:solidFill>
                <a:latin typeface="Manrope"/>
              </a:rPr>
              <a:t>5 fragmented</a:t>
            </a:r>
          </a:p>
          <a:p>
            <a:pPr algn="ctr"/>
            <a:r>
              <a:rPr sz="800" b="0" i="0">
                <a:solidFill>
                  <a:srgbClr val="5B6466"/>
                </a:solidFill>
                <a:latin typeface="Manrope"/>
              </a:rPr>
              <a:t>SOURCE_* schemas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792224" y="1371600"/>
            <a:ext cx="1207008" cy="960120"/>
          </a:xfrm>
          <a:prstGeom prst="roundRect">
            <a:avLst/>
          </a:prstGeom>
          <a:solidFill>
            <a:srgbClr val="F2F7FC"/>
          </a:solidFill>
          <a:ln w="13970">
            <a:solidFill>
              <a:srgbClr val="007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050" b="1" i="0">
                <a:solidFill>
                  <a:srgbClr val="202729"/>
                </a:solidFill>
                <a:latin typeface="Manrope"/>
              </a:rPr>
              <a:t>Bronze</a:t>
            </a:r>
          </a:p>
          <a:p>
            <a:pPr algn="ctr"/>
            <a:r>
              <a:rPr sz="800" b="0" i="0">
                <a:solidFill>
                  <a:srgbClr val="5B6466"/>
                </a:solidFill>
                <a:latin typeface="Manrope"/>
              </a:rPr>
              <a:t>Unified raw</a:t>
            </a:r>
          </a:p>
          <a:p>
            <a:pPr algn="ctr"/>
            <a:r>
              <a:rPr sz="800" b="0" i="0">
                <a:solidFill>
                  <a:srgbClr val="5B6466"/>
                </a:solidFill>
                <a:latin typeface="Manrope"/>
              </a:rPr>
              <a:t>landing zone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3172968" y="1371600"/>
            <a:ext cx="1207008" cy="960120"/>
          </a:xfrm>
          <a:prstGeom prst="roundRect">
            <a:avLst/>
          </a:prstGeom>
          <a:solidFill>
            <a:srgbClr val="F2F7FC"/>
          </a:solidFill>
          <a:ln w="13970">
            <a:solidFill>
              <a:srgbClr val="007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050" b="1" i="0">
                <a:solidFill>
                  <a:srgbClr val="202729"/>
                </a:solidFill>
                <a:latin typeface="Manrope"/>
              </a:rPr>
              <a:t>Silver</a:t>
            </a:r>
          </a:p>
          <a:p>
            <a:pPr algn="ctr"/>
            <a:r>
              <a:rPr sz="800" b="0" i="0">
                <a:solidFill>
                  <a:srgbClr val="5B6466"/>
                </a:solidFill>
                <a:latin typeface="Manrope"/>
              </a:rPr>
              <a:t>Entity resolution</a:t>
            </a:r>
          </a:p>
          <a:p>
            <a:pPr algn="ctr"/>
            <a:r>
              <a:rPr sz="800" b="0" i="0">
                <a:solidFill>
                  <a:srgbClr val="5B6466"/>
                </a:solidFill>
                <a:latin typeface="Manrope"/>
              </a:rPr>
              <a:t>(shipment_crosswalk)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553712" y="1371600"/>
            <a:ext cx="1207008" cy="960120"/>
          </a:xfrm>
          <a:prstGeom prst="roundRect">
            <a:avLst/>
          </a:prstGeom>
          <a:solidFill>
            <a:srgbClr val="F2F7FC"/>
          </a:solidFill>
          <a:ln w="13970">
            <a:solidFill>
              <a:srgbClr val="007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050" b="1" i="0">
                <a:solidFill>
                  <a:srgbClr val="202729"/>
                </a:solidFill>
                <a:latin typeface="Manrope"/>
              </a:rPr>
              <a:t>Gold</a:t>
            </a:r>
          </a:p>
          <a:p>
            <a:pPr algn="ctr"/>
            <a:r>
              <a:rPr sz="800" b="0" i="0">
                <a:solidFill>
                  <a:srgbClr val="5B6466"/>
                </a:solidFill>
                <a:latin typeface="Manrope"/>
              </a:rPr>
              <a:t>9-entity model,</a:t>
            </a:r>
          </a:p>
          <a:p>
            <a:pPr algn="ctr"/>
            <a:r>
              <a:rPr sz="800" b="0" i="0">
                <a:solidFill>
                  <a:srgbClr val="5B6466"/>
                </a:solidFill>
                <a:latin typeface="Manrope"/>
              </a:rPr>
              <a:t>28 Dynamic Tables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934456" y="1371600"/>
            <a:ext cx="1207008" cy="960120"/>
          </a:xfrm>
          <a:prstGeom prst="roundRect">
            <a:avLst/>
          </a:prstGeom>
          <a:solidFill>
            <a:srgbClr val="F2F7FC"/>
          </a:solidFill>
          <a:ln w="13970">
            <a:solidFill>
              <a:srgbClr val="007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050" b="1" i="0">
                <a:solidFill>
                  <a:srgbClr val="202729"/>
                </a:solidFill>
                <a:latin typeface="Manrope"/>
              </a:rPr>
              <a:t>Semantic</a:t>
            </a:r>
          </a:p>
          <a:p>
            <a:pPr algn="ctr"/>
            <a:r>
              <a:rPr sz="1050" b="1" i="0">
                <a:solidFill>
                  <a:srgbClr val="202729"/>
                </a:solidFill>
                <a:latin typeface="Manrope"/>
              </a:rPr>
              <a:t>View</a:t>
            </a:r>
          </a:p>
          <a:p>
            <a:pPr algn="ctr"/>
            <a:r>
              <a:rPr sz="800" b="0" i="0">
                <a:solidFill>
                  <a:srgbClr val="5B6466"/>
                </a:solidFill>
                <a:latin typeface="Manrope"/>
              </a:rPr>
              <a:t>Governed metrics</a:t>
            </a:r>
          </a:p>
          <a:p>
            <a:pPr algn="ctr"/>
            <a:r>
              <a:rPr sz="800" b="0" i="0">
                <a:solidFill>
                  <a:srgbClr val="5B6466"/>
                </a:solidFill>
                <a:latin typeface="Manrope"/>
              </a:rPr>
              <a:t>+ synonyms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7315200" y="1371600"/>
            <a:ext cx="1207008" cy="960120"/>
          </a:xfrm>
          <a:prstGeom prst="roundRect">
            <a:avLst/>
          </a:prstGeom>
          <a:solidFill>
            <a:srgbClr val="F2F7FC"/>
          </a:solidFill>
          <a:ln w="13970">
            <a:solidFill>
              <a:srgbClr val="007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050" b="1" i="0">
                <a:solidFill>
                  <a:srgbClr val="202729"/>
                </a:solidFill>
                <a:latin typeface="Manrope"/>
              </a:rPr>
              <a:t>Agents</a:t>
            </a:r>
          </a:p>
          <a:p>
            <a:pPr algn="ctr"/>
            <a:r>
              <a:rPr sz="1050" b="1" i="0">
                <a:solidFill>
                  <a:srgbClr val="202729"/>
                </a:solidFill>
                <a:latin typeface="Manrope"/>
              </a:rPr>
              <a:t>+ App</a:t>
            </a:r>
          </a:p>
          <a:p>
            <a:pPr algn="ctr"/>
            <a:r>
              <a:rPr sz="800" b="0" i="0">
                <a:solidFill>
                  <a:srgbClr val="5B6466"/>
                </a:solidFill>
                <a:latin typeface="Manrope"/>
              </a:rPr>
              <a:t>Multi-agent router,</a:t>
            </a:r>
          </a:p>
          <a:p>
            <a:pPr algn="ctr"/>
            <a:r>
              <a:rPr sz="800" b="0" i="0">
                <a:solidFill>
                  <a:srgbClr val="5B6466"/>
                </a:solidFill>
                <a:latin typeface="Manrope"/>
              </a:rPr>
              <a:t>Streamlit app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1618488" y="1851660"/>
            <a:ext cx="173736" cy="0"/>
          </a:xfrm>
          <a:prstGeom prst="line">
            <a:avLst/>
          </a:prstGeom>
          <a:ln w="15875">
            <a:solidFill>
              <a:srgbClr val="0074D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999232" y="1851660"/>
            <a:ext cx="173736" cy="0"/>
          </a:xfrm>
          <a:prstGeom prst="line">
            <a:avLst/>
          </a:prstGeom>
          <a:ln w="15875">
            <a:solidFill>
              <a:srgbClr val="0074D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4379976" y="1851660"/>
            <a:ext cx="173736" cy="0"/>
          </a:xfrm>
          <a:prstGeom prst="line">
            <a:avLst/>
          </a:prstGeom>
          <a:ln w="15875">
            <a:solidFill>
              <a:srgbClr val="0074D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5760720" y="1851660"/>
            <a:ext cx="173736" cy="0"/>
          </a:xfrm>
          <a:prstGeom prst="line">
            <a:avLst/>
          </a:prstGeom>
          <a:ln w="15875">
            <a:solidFill>
              <a:srgbClr val="0074D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7141464" y="1851660"/>
            <a:ext cx="173736" cy="0"/>
          </a:xfrm>
          <a:prstGeom prst="line">
            <a:avLst/>
          </a:prstGeom>
          <a:ln w="15875">
            <a:solidFill>
              <a:srgbClr val="0074D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411480" y="2606040"/>
            <a:ext cx="267919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 i="0">
                <a:solidFill>
                  <a:srgbClr val="0074D6"/>
                </a:solidFill>
                <a:latin typeface="Manrope"/>
              </a:rPr>
              <a:t>CoCo CLI skills used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11480" y="2898648"/>
            <a:ext cx="2679192" cy="1856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60" b="0" i="0">
                <a:solidFill>
                  <a:srgbClr val="202729"/>
                </a:solidFill>
                <a:latin typeface="Manrope"/>
              </a:rPr>
              <a:t>Built end-to-end with CoCo CLI across 8 dated planning sessions (2026-09-12 → 09-23, committed under .snowflake/cortex/plans/ and .cortex/plans/): sql-author for the medallion SQL, agent-studio for the Semantic View, developing-with-streamlit-in-snowflake for the app, and verification skills for the golden-question test suite.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218688" y="2606040"/>
            <a:ext cx="267919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 i="0">
                <a:solidFill>
                  <a:srgbClr val="0074D6"/>
                </a:solidFill>
                <a:latin typeface="Manrope"/>
              </a:rPr>
              <a:t>Data sources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218688" y="2898648"/>
            <a:ext cx="2679192" cy="1856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60" b="0" i="0">
                <a:solidFill>
                  <a:srgbClr val="202729"/>
                </a:solidFill>
                <a:latin typeface="Manrope"/>
              </a:rPr>
              <a:t>Structured: ERP orders, TMS deliveries, Supplier Portal shipments/POs, IoT sensor tracking events, Finance COGS/overhead. Unstructured: 11 synthetic supplier contract PDFs, parsed via AI_PARSE_DOCUMENT and indexed in Cortex Search.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025896" y="2606040"/>
            <a:ext cx="267919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 i="0">
                <a:solidFill>
                  <a:srgbClr val="0074D6"/>
                </a:solidFill>
                <a:latin typeface="Manrope"/>
              </a:rPr>
              <a:t>How components plug together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025896" y="2898648"/>
            <a:ext cx="2679192" cy="1856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60" b="0" i="0">
                <a:solidFill>
                  <a:srgbClr val="202729"/>
                </a:solidFill>
                <a:latin typeface="Manrope"/>
              </a:rPr>
              <a:t>Each medallion layer is its own set of Dynamic Tables (TARGET_LAG-scheduled). The Semantic View is the single governed interface on top; the agent router (4 sub-agents behind a 5-intent classifier) and the Streamlit app both consume only that interface.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" title="Framewsxexexe 23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7"/>
          <p:cNvSpPr txBox="1"/>
          <p:nvPr/>
        </p:nvSpPr>
        <p:spPr>
          <a:xfrm>
            <a:off x="315900" y="4478850"/>
            <a:ext cx="85122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-GB" sz="900" b="1" i="1" u="none" strike="noStrike" cap="non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Impact Statement</a:t>
            </a:r>
            <a:endParaRPr sz="600" b="0" i="1" u="none" strike="noStrike" cap="none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411480" y="548640"/>
            <a:ext cx="8321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 i="0">
                <a:solidFill>
                  <a:srgbClr val="0074D6"/>
                </a:solidFill>
                <a:latin typeface="Manrope"/>
              </a:rPr>
              <a:t>Impact Statement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429768" y="1042415"/>
            <a:ext cx="1399032" cy="0"/>
          </a:xfrm>
          <a:prstGeom prst="line">
            <a:avLst/>
          </a:prstGeom>
          <a:ln w="28575">
            <a:solidFill>
              <a:srgbClr val="007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411480" y="1417320"/>
            <a:ext cx="26791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1" i="0">
                <a:solidFill>
                  <a:srgbClr val="0074D6"/>
                </a:solidFill>
                <a:latin typeface="Manrope"/>
              </a:rPr>
              <a:t>Measurable outcomes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11480" y="1783080"/>
            <a:ext cx="26791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60" b="0" i="0">
                <a:solidFill>
                  <a:srgbClr val="202729"/>
                </a:solidFill>
                <a:latin typeface="Manrope"/>
              </a:rPr>
              <a:t>—  4 conflicting legacy answers (89.4% / 91.3% / 78.6% / biased) collapse into 1 governed number: 64.875%.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11480" y="2377440"/>
            <a:ext cx="26791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60" b="0" i="0">
                <a:solidFill>
                  <a:srgbClr val="202729"/>
                </a:solidFill>
                <a:latin typeface="Manrope"/>
              </a:rPr>
              <a:t>—  100% entity resolution across 4 independent systems (800/800 shipments matched).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11480" y="2971800"/>
            <a:ext cx="26791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60" b="0" i="0">
                <a:solidFill>
                  <a:srgbClr val="202729"/>
                </a:solidFill>
                <a:latin typeface="Manrope"/>
              </a:rPr>
              <a:t>—  Cross-persona proof: 3 differently-worded questions → identical value + identical base_table/measure_name.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218688" y="1417320"/>
            <a:ext cx="26791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1" i="0">
                <a:solidFill>
                  <a:srgbClr val="0074D6"/>
                </a:solidFill>
                <a:latin typeface="Manrope"/>
              </a:rPr>
              <a:t>Scalability potential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218688" y="1783080"/>
            <a:ext cx="26791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60" b="0" i="0">
                <a:solidFill>
                  <a:srgbClr val="202729"/>
                </a:solidFill>
                <a:latin typeface="Manrope"/>
              </a:rPr>
              <a:t>—  28 Dynamic Tables, TARGET_LAG-scheduled — the pipeline scales with data volume, no manual reconciliation.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218688" y="2377440"/>
            <a:ext cx="26791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60" b="0" i="0">
                <a:solidFill>
                  <a:srgbClr val="202729"/>
                </a:solidFill>
                <a:latin typeface="Manrope"/>
              </a:rPr>
              <a:t>—  Least-privilege RBAC split (SUPPLY_CHAIN_ANALYST_RO) is negative-tested and ready for enterprise rollout.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218688" y="2971800"/>
            <a:ext cx="26791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60" b="0" i="0">
                <a:solidFill>
                  <a:srgbClr val="202729"/>
                </a:solidFill>
                <a:latin typeface="Manrope"/>
              </a:rPr>
              <a:t>—  The Semantic View pattern extends to new source systems or metrics without touching the agents or the app.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25896" y="1417320"/>
            <a:ext cx="26791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1" i="0">
                <a:solidFill>
                  <a:srgbClr val="0074D6"/>
                </a:solidFill>
                <a:latin typeface="Manrope"/>
              </a:rPr>
              <a:t>Beyond the demo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025896" y="1783080"/>
            <a:ext cx="26791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60" b="0" i="0">
                <a:solidFill>
                  <a:srgbClr val="202729"/>
                </a:solidFill>
                <a:latin typeface="Manrope"/>
              </a:rPr>
              <a:t>—  The multi-agent pattern (what-if simulation, root-cause trace, document Q&amp;A) is domain-agnostic — reusable for any governed-analytics use case.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025896" y="2761488"/>
            <a:ext cx="26791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60" b="0" i="0">
                <a:solidFill>
                  <a:srgbClr val="202729"/>
                </a:solidFill>
                <a:latin typeface="Manrope"/>
              </a:rPr>
              <a:t>—  Marketplace enrichment (free Pelmorex weather data) proves the pattern for pulling in third-party signals.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025896" y="3547872"/>
            <a:ext cx="26791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60" b="0" i="0">
                <a:solidFill>
                  <a:srgbClr val="202729"/>
                </a:solidFill>
                <a:latin typeface="Manrope"/>
              </a:rPr>
              <a:t>—  Disclosed roadmap (MCP connectors, Task automation, a packaged CoCo skill) is the explicit productionization path, not a hidden gap.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8" title="timer 1 min cowsswedededexeco cli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6</Slides>
  <Notes>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16</cp:revision>
  <dcterms:modified xsi:type="dcterms:W3CDTF">2026-10-04T16:29:32Z</dcterms:modified>
</cp:coreProperties>
</file>