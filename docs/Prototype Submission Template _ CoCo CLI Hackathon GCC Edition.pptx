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1" lang="en-GB" sz="1442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(Things to add on the submission deck)</a:t>
            </a:r>
            <a:endParaRPr b="1" i="1" sz="1442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CoCo CLI skills are used and how they connect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411480" y="548640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74D6"/>
                </a:solidFill>
                <a:latin typeface="Manrope"/>
              </a:rPr>
              <a:t>Problem Brief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29768" y="1042415"/>
            <a:ext cx="1399032" cy="0"/>
          </a:xfrm>
          <a:prstGeom prst="line">
            <a:avLst/>
          </a:prstGeom>
          <a:ln w="28575">
            <a:solidFill>
              <a:srgbClr val="007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11480" y="141732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0074D6"/>
                </a:solidFill>
                <a:latin typeface="Manrope"/>
              </a:rPr>
              <a:t>What real business problem does this solve?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1709928"/>
            <a:ext cx="39776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80" b="0" i="0">
                <a:solidFill>
                  <a:srgbClr val="202729"/>
                </a:solidFill>
                <a:latin typeface="Manrope"/>
              </a:rPr>
              <a:t>Supply chain data is scattered across ERP, TMS, Supplier Portal, IoT sensor, and Finance systems, each computing the same KPI differently. Ask “what's our On-Time Delivery rate?” and four systems give four different, individually defensible answers (89.4% / 91.3% / 78.6% / a biased IoT sample) — there is no shared source of truth.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63439" y="141732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0074D6"/>
                </a:solidFill>
                <a:latin typeface="Manrope"/>
              </a:rPr>
              <a:t>Who is the target user / persona?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63439" y="1709928"/>
            <a:ext cx="39776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80" b="0" i="0">
                <a:solidFill>
                  <a:srgbClr val="202729"/>
                </a:solidFill>
                <a:latin typeface="Manrope"/>
              </a:rPr>
              <a:t>Planning, Procurement, and Logistics analysts inside a Global Capability Center who all report the same supply-chain KPIs upward, but pull them from different source systems using different, undocumented definitions.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2990088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0074D6"/>
                </a:solidFill>
                <a:latin typeface="Manrope"/>
              </a:rPr>
              <a:t>Current pain point → how this improves it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3282696"/>
            <a:ext cx="39776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80" b="0" i="0">
                <a:solidFill>
                  <a:srgbClr val="202729"/>
                </a:solidFill>
                <a:latin typeface="Manrope"/>
              </a:rPr>
              <a:t>Today each team's number is “correct” by its own definition, so leadership can't trust cross-team reporting. This project encodes ONE governed definition per metric as a native Snowflake Semantic View — every persona now gets the identical number (64.875% OTD), verified regardless of how the question is worded.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63439" y="2990088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0074D6"/>
                </a:solidFill>
                <a:latin typeface="Manrope"/>
              </a:rPr>
              <a:t>Industry / domain context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63439" y="3282696"/>
            <a:ext cx="39776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80" b="0" i="0">
                <a:solidFill>
                  <a:srgbClr val="202729"/>
                </a:solidFill>
                <a:latin typeface="Manrope"/>
              </a:rPr>
              <a:t>Manufacturing / industrial supply chain — Supplier → Part → Plant → Shipment → Order → Customer, the exact entity chain called out in the challenge brief. 100% synthetic data; no proprietary or real GCC data used anywhere in the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411480" y="548640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74D6"/>
                </a:solidFill>
                <a:latin typeface="Manrope"/>
              </a:rPr>
              <a:t>Architecture Diagram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29768" y="1042415"/>
            <a:ext cx="1399032" cy="0"/>
          </a:xfrm>
          <a:prstGeom prst="line">
            <a:avLst/>
          </a:prstGeom>
          <a:ln w="28575">
            <a:solidFill>
              <a:srgbClr val="007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411480" y="1371600"/>
            <a:ext cx="1207008" cy="960120"/>
          </a:xfrm>
          <a:prstGeom prst="roundRect">
            <a:avLst/>
          </a:prstGeom>
          <a:solidFill>
            <a:srgbClr val="F2F7FC"/>
          </a:solidFill>
          <a:ln w="13970">
            <a:solidFill>
              <a:srgbClr val="007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Source</a:t>
            </a:r>
          </a:p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Systems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5 fragmented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SOURCE_* schemas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792224" y="1371600"/>
            <a:ext cx="1207008" cy="960120"/>
          </a:xfrm>
          <a:prstGeom prst="roundRect">
            <a:avLst/>
          </a:prstGeom>
          <a:solidFill>
            <a:srgbClr val="F2F7FC"/>
          </a:solidFill>
          <a:ln w="13970">
            <a:solidFill>
              <a:srgbClr val="007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Bronze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Unified raw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landing zone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172968" y="1371600"/>
            <a:ext cx="1207008" cy="960120"/>
          </a:xfrm>
          <a:prstGeom prst="roundRect">
            <a:avLst/>
          </a:prstGeom>
          <a:solidFill>
            <a:srgbClr val="F2F7FC"/>
          </a:solidFill>
          <a:ln w="13970">
            <a:solidFill>
              <a:srgbClr val="007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Silver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Entity resolution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(shipment_crosswalk)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53712" y="1371600"/>
            <a:ext cx="1207008" cy="960120"/>
          </a:xfrm>
          <a:prstGeom prst="roundRect">
            <a:avLst/>
          </a:prstGeom>
          <a:solidFill>
            <a:srgbClr val="F2F7FC"/>
          </a:solidFill>
          <a:ln w="13970">
            <a:solidFill>
              <a:srgbClr val="007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Gold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9-entity model,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28 Dynamic Tables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34456" y="1371600"/>
            <a:ext cx="1207008" cy="960120"/>
          </a:xfrm>
          <a:prstGeom prst="roundRect">
            <a:avLst/>
          </a:prstGeom>
          <a:solidFill>
            <a:srgbClr val="F2F7FC"/>
          </a:solidFill>
          <a:ln w="13970">
            <a:solidFill>
              <a:srgbClr val="007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Semantic</a:t>
            </a:r>
          </a:p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View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Governed metrics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+ synonyms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315200" y="1371600"/>
            <a:ext cx="1207008" cy="960120"/>
          </a:xfrm>
          <a:prstGeom prst="roundRect">
            <a:avLst/>
          </a:prstGeom>
          <a:solidFill>
            <a:srgbClr val="F2F7FC"/>
          </a:solidFill>
          <a:ln w="13970">
            <a:solidFill>
              <a:srgbClr val="007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Agents</a:t>
            </a:r>
          </a:p>
          <a:p>
            <a:pPr algn="ctr"/>
            <a:r>
              <a:rPr sz="1050" b="1" i="0">
                <a:solidFill>
                  <a:srgbClr val="202729"/>
                </a:solidFill>
                <a:latin typeface="Manrope"/>
              </a:rPr>
              <a:t>+ App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Multi-agent router,</a:t>
            </a:r>
          </a:p>
          <a:p>
            <a:pPr algn="ctr"/>
            <a:r>
              <a:rPr sz="800" b="0" i="0">
                <a:solidFill>
                  <a:srgbClr val="5B6466"/>
                </a:solidFill>
                <a:latin typeface="Manrope"/>
              </a:rPr>
              <a:t>Streamlit app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618488" y="1851660"/>
            <a:ext cx="173736" cy="0"/>
          </a:xfrm>
          <a:prstGeom prst="line">
            <a:avLst/>
          </a:prstGeom>
          <a:ln w="15875">
            <a:solidFill>
              <a:srgbClr val="007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999232" y="1851660"/>
            <a:ext cx="173736" cy="0"/>
          </a:xfrm>
          <a:prstGeom prst="line">
            <a:avLst/>
          </a:prstGeom>
          <a:ln w="15875">
            <a:solidFill>
              <a:srgbClr val="007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79976" y="1851660"/>
            <a:ext cx="173736" cy="0"/>
          </a:xfrm>
          <a:prstGeom prst="line">
            <a:avLst/>
          </a:prstGeom>
          <a:ln w="15875">
            <a:solidFill>
              <a:srgbClr val="007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760720" y="1851660"/>
            <a:ext cx="173736" cy="0"/>
          </a:xfrm>
          <a:prstGeom prst="line">
            <a:avLst/>
          </a:prstGeom>
          <a:ln w="15875">
            <a:solidFill>
              <a:srgbClr val="007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141464" y="1851660"/>
            <a:ext cx="173736" cy="0"/>
          </a:xfrm>
          <a:prstGeom prst="line">
            <a:avLst/>
          </a:prstGeom>
          <a:ln w="15875">
            <a:solidFill>
              <a:srgbClr val="007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411480" y="26060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074D6"/>
                </a:solidFill>
                <a:latin typeface="Manrope"/>
              </a:rPr>
              <a:t>CoCo CLI skills used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2898648"/>
            <a:ext cx="2679192" cy="1856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60" b="0" i="0">
                <a:solidFill>
                  <a:srgbClr val="202729"/>
                </a:solidFill>
                <a:latin typeface="Manrope"/>
              </a:rPr>
              <a:t>Built end-to-end with CoCo CLI across 8 dated planning sessions (2026-09-12 → 09-23, committed under .snowflake/cortex/plans/ and .cortex/plans/): sql-author for the medallion SQL, agent-studio for the Semantic View, developing-with-streamlit-in-snowflake for the app, and verification skills for the golden-question test suite.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18688" y="26060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074D6"/>
                </a:solidFill>
                <a:latin typeface="Manrope"/>
              </a:rPr>
              <a:t>Data sources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18688" y="2898648"/>
            <a:ext cx="2679192" cy="1856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60" b="0" i="0">
                <a:solidFill>
                  <a:srgbClr val="202729"/>
                </a:solidFill>
                <a:latin typeface="Manrope"/>
              </a:rPr>
              <a:t>Structured: ERP orders, TMS deliveries, Supplier Portal shipments/POs, IoT sensor tracking events, Finance COGS/overhead. Unstructured: 11 synthetic supplier contract PDFs, parsed via AI_PARSE_DOCUMENT and indexed in Cortex Search.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25896" y="26060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074D6"/>
                </a:solidFill>
                <a:latin typeface="Manrope"/>
              </a:rPr>
              <a:t>How components plug together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25896" y="2898648"/>
            <a:ext cx="2679192" cy="1856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60" b="0" i="0">
                <a:solidFill>
                  <a:srgbClr val="202729"/>
                </a:solidFill>
                <a:latin typeface="Manrope"/>
              </a:rPr>
              <a:t>Each medallion layer is its own set of Dynamic Tables (TARGET_LAG-scheduled). The Semantic View is the single governed interface on top; the agent router (4 sub-agents behind a 5-intent classifier) and the Streamlit app both consume only that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1" lang="en-GB" sz="9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Impact Statement</a:t>
            </a:r>
            <a:endParaRPr b="0" i="1" sz="6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11480" y="548640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0074D6"/>
                </a:solidFill>
                <a:latin typeface="Manrope"/>
              </a:rPr>
              <a:t>Impact Statement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29768" y="1042415"/>
            <a:ext cx="1399032" cy="0"/>
          </a:xfrm>
          <a:prstGeom prst="line">
            <a:avLst/>
          </a:prstGeom>
          <a:ln w="28575">
            <a:solidFill>
              <a:srgbClr val="007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11480" y="1417320"/>
            <a:ext cx="2679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0074D6"/>
                </a:solidFill>
                <a:latin typeface="Manrope"/>
              </a:rPr>
              <a:t>Measurable outcomes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" y="1783080"/>
            <a:ext cx="26791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4 conflicting legacy answers (89.4% / 91.3% / 78.6% / biased) collapse into 1 governed number: 64.875%.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" y="2377440"/>
            <a:ext cx="26791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100% entity resolution across 4 independent systems (800/800 shipments matched).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1480" y="2971800"/>
            <a:ext cx="26791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Cross-persona proof: 3 differently-worded questions → identical value + identical base_table/measure_name.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18688" y="1417320"/>
            <a:ext cx="2679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0074D6"/>
                </a:solidFill>
                <a:latin typeface="Manrope"/>
              </a:rPr>
              <a:t>Scalability potential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18688" y="1783080"/>
            <a:ext cx="26791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28 Dynamic Tables, TARGET_LAG-scheduled — the pipeline scales with data volume, no manual reconciliation.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18688" y="2377440"/>
            <a:ext cx="26791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Least-privilege RBAC split (SUPPLY_CHAIN_ANALYST_RO) is negative-tested and ready for enterprise rollout.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18688" y="2971800"/>
            <a:ext cx="26791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The Semantic View pattern extends to new source systems or metrics without touching the agents or the app.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25896" y="1417320"/>
            <a:ext cx="2679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0074D6"/>
                </a:solidFill>
                <a:latin typeface="Manrope"/>
              </a:rPr>
              <a:t>Beyond the demo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25896" y="1783080"/>
            <a:ext cx="26791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The multi-agent pattern (what-if simulation, root-cause trace, document Q&amp;A) is domain-agnostic — reusable for any governed-analytics use case.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25896" y="2761488"/>
            <a:ext cx="26791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Marketplace enrichment (free Pelmorex weather data) proves the pattern for pulling in third-party signals.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25896" y="3547872"/>
            <a:ext cx="26791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60" b="0" i="0">
                <a:solidFill>
                  <a:srgbClr val="202729"/>
                </a:solidFill>
                <a:latin typeface="Manrope"/>
              </a:rPr>
              <a:t>—  Disclosed roadmap (MCP connectors, Task automation, a packaged CoCo skill) is the explicit productionization path, not a hidden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