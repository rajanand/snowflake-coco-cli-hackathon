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317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FFFFFF"/>
                </a:solidFill>
                <a:latin typeface="Arial"/>
              </a:rPr>
              <a:t>SNOWFLAKE COCO CLI HACKATHON 2026 — GCC 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9748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Arial"/>
              </a:rPr>
              <a:t>Supply Chain Ontology &amp;</a:t>
            </a:r>
          </a:p>
          <a:p>
            <a:pPr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Arial"/>
              </a:rPr>
              <a:t>Governed Conversational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4340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A9A9A"/>
                </a:solidFill>
                <a:latin typeface="Arial"/>
              </a:rPr>
              <a:t>One governed semantic layer that gets Planning, Procurement, and Logistics to the same number — every time, no matter how the question is worded.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1280160" cy="381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9A9A"/>
                </a:solidFill>
                <a:latin typeface="Arial"/>
              </a:rPr>
              <a:t>100% SYNTHETIC DATA  ·  BUILT END-TO-END WITH COCO  ·  DATABASE: SUPPLY_CHAIN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9A9A9A"/>
                </a:solidFill>
                <a:latin typeface="Arial"/>
              </a:rPr>
              <a:t>SUPPLY CHAIN ONTOLOGY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9A9A9A"/>
                </a:solidFill>
                <a:latin typeface="Arial"/>
              </a:rPr>
              <a:t>1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717158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111111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 i="0">
                <a:solidFill>
                  <a:srgbClr val="111111"/>
                </a:solidFill>
                <a:latin typeface="Arial"/>
              </a:rPr>
              <a:t>One question, five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6B66"/>
                </a:solidFill>
                <a:latin typeface="Arial"/>
              </a:rPr>
              <a:t>The Sun and everything... no — supply chain data is scattered across ERP, logistics, supplier, and IoT systems with inconsistent definitions, so the same question yields different answers across teams.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2514600"/>
            <a:ext cx="1737360" cy="0"/>
          </a:xfrm>
          <a:prstGeom prst="line">
            <a:avLst/>
          </a:prstGeom>
          <a:ln w="15875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58775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6B66"/>
                </a:solidFill>
                <a:latin typeface="Arial"/>
              </a:rPr>
              <a:t>SOURCE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62072"/>
            <a:ext cx="5166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11111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6"/>
                </a:solidFill>
                <a:latin typeface="Arial"/>
              </a:rPr>
              <a:t>ERP, TMS, Supplier Portal, IoT sensors, Finance — each with its own definition.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2514600"/>
            <a:ext cx="1737360" cy="0"/>
          </a:xfrm>
          <a:prstGeom prst="line">
            <a:avLst/>
          </a:prstGeom>
          <a:ln w="15875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89320" y="258775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6B66"/>
                </a:solidFill>
                <a:latin typeface="Arial"/>
              </a:rPr>
              <a:t>DIVERGENT OTD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862072"/>
            <a:ext cx="5166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4747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6"/>
                </a:solidFill>
                <a:latin typeface="Arial"/>
              </a:rPr>
              <a:t>89.4% / 91.3% / 78.6% / a biased IoT sample — before governance.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206240"/>
            <a:ext cx="1737360" cy="0"/>
          </a:xfrm>
          <a:prstGeom prst="line">
            <a:avLst/>
          </a:prstGeom>
          <a:ln w="15875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27939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6B66"/>
                </a:solidFill>
                <a:latin typeface="Arial"/>
              </a:rPr>
              <a:t>SHARED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53712"/>
            <a:ext cx="5166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6"/>
                </a:solidFill>
                <a:latin typeface="Arial"/>
              </a:rPr>
              <a:t>No canonical metric existed before this project.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4206240"/>
            <a:ext cx="1737360" cy="0"/>
          </a:xfrm>
          <a:prstGeom prst="line">
            <a:avLst/>
          </a:prstGeom>
          <a:ln w="15875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89320" y="427939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6B66"/>
                </a:solidFill>
                <a:latin typeface="Arial"/>
              </a:rPr>
              <a:t>GOVERNED TRUTH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553712"/>
            <a:ext cx="5166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16636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6"/>
                </a:solidFill>
                <a:latin typeface="Arial"/>
              </a:rPr>
              <a:t>One Semantic View, one number, every persona.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6B6B66"/>
                </a:solidFill>
                <a:latin typeface="Arial"/>
              </a:rPr>
              <a:t>SUPPLY CHAIN ONTOLOGY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B6B66"/>
                </a:solidFill>
                <a:latin typeface="Arial"/>
              </a:rPr>
              <a:t>2 / 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8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1434317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FFFFFF"/>
                </a:solidFill>
                <a:latin typeface="Arial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Ontology → Semantic View → Governed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1691640" cy="1371600"/>
          </a:xfrm>
          <a:prstGeom prst="roundRect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Source systems</a:t>
            </a:r>
          </a:p>
          <a:p>
            <a:pPr algn="ctr"/>
            <a:r>
              <a:rPr sz="950" b="0" i="0">
                <a:solidFill>
                  <a:srgbClr val="9A9A9A"/>
                </a:solidFill>
                <a:latin typeface="Arial"/>
              </a:rPr>
              <a:t>5 fragmented</a:t>
            </a:r>
          </a:p>
          <a:p>
            <a:pPr algn="ctr"/>
            <a:r>
              <a:rPr sz="950" b="0" i="0">
                <a:solidFill>
                  <a:srgbClr val="9A9A9A"/>
                </a:solidFill>
                <a:latin typeface="Arial"/>
              </a:rPr>
              <a:t>SOURCE_* schemas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96312" y="2743200"/>
            <a:ext cx="1691640" cy="1371600"/>
          </a:xfrm>
          <a:prstGeom prst="roundRect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Bronze</a:t>
            </a:r>
          </a:p>
          <a:p>
            <a:pPr algn="ctr"/>
            <a:r>
              <a:rPr sz="950" b="0" i="0">
                <a:solidFill>
                  <a:srgbClr val="9A9A9A"/>
                </a:solidFill>
                <a:latin typeface="Arial"/>
              </a:rPr>
              <a:t>Unified raw</a:t>
            </a:r>
          </a:p>
          <a:p>
            <a:pPr algn="ctr"/>
            <a:r>
              <a:rPr sz="950" b="0" i="0">
                <a:solidFill>
                  <a:srgbClr val="9A9A9A"/>
                </a:solidFill>
                <a:latin typeface="Arial"/>
              </a:rPr>
              <a:t>landing zone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2743200"/>
            <a:ext cx="1691640" cy="1371600"/>
          </a:xfrm>
          <a:prstGeom prst="roundRect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Silver</a:t>
            </a:r>
          </a:p>
          <a:p>
            <a:pPr algn="ctr"/>
            <a:r>
              <a:rPr sz="950" b="0" i="0">
                <a:solidFill>
                  <a:srgbClr val="9A9A9A"/>
                </a:solidFill>
                <a:latin typeface="Arial"/>
              </a:rPr>
              <a:t>Entity resolution</a:t>
            </a:r>
          </a:p>
          <a:p>
            <a:pPr algn="ctr"/>
            <a:r>
              <a:rPr sz="950" b="0" i="0">
                <a:solidFill>
                  <a:srgbClr val="9A9A9A"/>
                </a:solidFill>
                <a:latin typeface="Arial"/>
              </a:rPr>
              <a:t>+ crosswalk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2743200"/>
            <a:ext cx="1691640" cy="1371600"/>
          </a:xfrm>
          <a:prstGeom prst="roundRect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Gold</a:t>
            </a:r>
          </a:p>
          <a:p>
            <a:pPr algn="ctr"/>
            <a:r>
              <a:rPr sz="950" b="0" i="0">
                <a:solidFill>
                  <a:srgbClr val="9A9A9A"/>
                </a:solidFill>
                <a:latin typeface="Arial"/>
              </a:rPr>
              <a:t>9-entity</a:t>
            </a:r>
          </a:p>
          <a:p>
            <a:pPr algn="ctr"/>
            <a:r>
              <a:rPr sz="950" b="0" i="0">
                <a:solidFill>
                  <a:srgbClr val="9A9A9A"/>
                </a:solidFill>
                <a:latin typeface="Arial"/>
              </a:rPr>
              <a:t>dimensional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2743200"/>
            <a:ext cx="1691640" cy="1371600"/>
          </a:xfrm>
          <a:prstGeom prst="roundRect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Semantic View</a:t>
            </a:r>
          </a:p>
          <a:p>
            <a:pPr algn="ctr"/>
            <a:r>
              <a:rPr sz="950" b="0" i="0">
                <a:solidFill>
                  <a:srgbClr val="9A9A9A"/>
                </a:solidFill>
                <a:latin typeface="Arial"/>
              </a:rPr>
              <a:t>Governed metrics</a:t>
            </a:r>
          </a:p>
          <a:p>
            <a:pPr algn="ctr"/>
            <a:r>
              <a:rPr sz="950" b="0" i="0">
                <a:solidFill>
                  <a:srgbClr val="9A9A9A"/>
                </a:solidFill>
                <a:latin typeface="Arial"/>
              </a:rPr>
              <a:t>+ synonyms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2743200"/>
            <a:ext cx="1691640" cy="1371600"/>
          </a:xfrm>
          <a:prstGeom prst="roundRect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Agents + App</a:t>
            </a:r>
          </a:p>
          <a:p>
            <a:pPr algn="ctr"/>
            <a:r>
              <a:rPr sz="950" b="0" i="0">
                <a:solidFill>
                  <a:srgbClr val="9A9A9A"/>
                </a:solidFill>
                <a:latin typeface="Arial"/>
              </a:rPr>
              <a:t>Router, guardrails,</a:t>
            </a:r>
          </a:p>
          <a:p>
            <a:pPr algn="ctr"/>
            <a:r>
              <a:rPr sz="950" b="0" i="0">
                <a:solidFill>
                  <a:srgbClr val="9A9A9A"/>
                </a:solidFill>
                <a:latin typeface="Arial"/>
              </a:rPr>
              <a:t>Streamlit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3429000.0"/>
            <a:ext cx="164592.0" cy="0.0"/>
          </a:xfrm>
          <a:prstGeom prst="line">
            <a:avLst/>
          </a:prstGeom>
          <a:ln w="19050">
            <a:solidFill>
              <a:srgbClr val="2D5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87952.0" y="3429000.0"/>
            <a:ext cx="164592.0" cy="0.0"/>
          </a:xfrm>
          <a:prstGeom prst="line">
            <a:avLst/>
          </a:prstGeom>
          <a:ln w="19050">
            <a:solidFill>
              <a:srgbClr val="2D5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44184.0" y="3429000.0"/>
            <a:ext cx="164592.0" cy="0.0"/>
          </a:xfrm>
          <a:prstGeom prst="line">
            <a:avLst/>
          </a:prstGeom>
          <a:ln w="19050">
            <a:solidFill>
              <a:srgbClr val="2D5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0416.0" y="3429000.0"/>
            <a:ext cx="164592.0" cy="0.0"/>
          </a:xfrm>
          <a:prstGeom prst="line">
            <a:avLst/>
          </a:prstGeom>
          <a:ln w="19050">
            <a:solidFill>
              <a:srgbClr val="2D5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56648.0" y="3429000.0"/>
            <a:ext cx="164592.0" cy="0.0"/>
          </a:xfrm>
          <a:prstGeom prst="line">
            <a:avLst/>
          </a:prstGeom>
          <a:ln w="19050">
            <a:solidFill>
              <a:srgbClr val="2D5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46634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9A9A"/>
                </a:solidFill>
                <a:latin typeface="Arial"/>
              </a:rPr>
              <a:t>Five fragmented systems land into one Bronze zone, get resolved into a single canonical Silver layer, modeled dimensionally in Gold, exposed as a governed Semantic View, and consumed by a multi-agent router and Streamlit app.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9A9A9A"/>
                </a:solidFill>
                <a:latin typeface="Arial"/>
              </a:rPr>
              <a:t>SUPPLY CHAIN ONTOLOGY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9A9A9A"/>
                </a:solidFill>
                <a:latin typeface="Arial"/>
              </a:rPr>
              <a:t>3 / 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2151475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111111"/>
                </a:solidFill>
                <a:latin typeface="Arial"/>
              </a:rPr>
              <a:t>PHASE 0 — SOURCE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95528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111111"/>
                </a:solidFill>
                <a:latin typeface="Arial"/>
              </a:rPr>
              <a:t>Five systems, five genuine flaws.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6B66"/>
                </a:solidFill>
                <a:latin typeface="Arial"/>
              </a:rPr>
              <a:t>Built deliberately, not staged — every SOURCE_* table carries a KNOWN DATA QUALITY ISSUE comment describing its specific real-world flaw.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2103120"/>
            <a:ext cx="0" cy="3566160"/>
          </a:xfrm>
          <a:prstGeom prst="line">
            <a:avLst/>
          </a:prstGeom>
          <a:ln w="12700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6112" y="210312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B66"/>
                </a:solidFill>
                <a:latin typeface="Arial"/>
              </a:rPr>
              <a:t>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95728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111111"/>
                </a:solidFill>
                <a:latin typeface="Arial"/>
              </a:rPr>
              <a:t>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175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11111"/>
                </a:solidFill>
                <a:latin typeface="Arial"/>
              </a:rPr>
              <a:t>89.4% legacy OTD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747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Ship-confirm before requested 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319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Excludes cancelled / backorder rows.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2103120"/>
            <a:ext cx="0" cy="3566160"/>
          </a:xfrm>
          <a:prstGeom prst="line">
            <a:avLst/>
          </a:prstGeom>
          <a:ln w="12700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47872" y="210312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B66"/>
                </a:solidFill>
                <a:latin typeface="Arial"/>
              </a:rPr>
              <a:t>LOGISTICS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95728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111111"/>
                </a:solidFill>
                <a:latin typeface="Arial"/>
              </a:rPr>
              <a:t>TMS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0175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11111"/>
                </a:solidFill>
                <a:latin typeface="Arial"/>
              </a:rPr>
              <a:t>91.3% legacy OTD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4747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Delivery before promised 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9319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2-day carrier buffer baked in.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2103120"/>
            <a:ext cx="0" cy="3566160"/>
          </a:xfrm>
          <a:prstGeom prst="line">
            <a:avLst/>
          </a:prstGeom>
          <a:ln w="12700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99632" y="210312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B66"/>
                </a:solidFill>
                <a:latin typeface="Arial"/>
              </a:rPr>
              <a:t>PROCUREMENT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395728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111111"/>
                </a:solidFill>
                <a:latin typeface="Arial"/>
              </a:rPr>
              <a:t>Supplier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0175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11111"/>
                </a:solidFill>
                <a:latin typeface="Arial"/>
              </a:rPr>
              <a:t>78.6% legacy OTD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4747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ASN receipt before planned date.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39319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Drops in-transit shipments.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2103120"/>
            <a:ext cx="0" cy="3566160"/>
          </a:xfrm>
          <a:prstGeom prst="line">
            <a:avLst/>
          </a:prstGeom>
          <a:ln w="12700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51392" y="210312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B66"/>
                </a:solidFill>
                <a:latin typeface="Arial"/>
              </a:rPr>
              <a:t>WAREHOUSE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2395728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111111"/>
                </a:solidFill>
                <a:latin typeface="Arial"/>
              </a:rPr>
              <a:t>IoT Sensors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30175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Biased sample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34747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Sensor-detected dock receipt.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39319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Only ~70% sensor coverage.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6B6B66"/>
                </a:solidFill>
                <a:latin typeface="Arial"/>
              </a:rPr>
              <a:t>SUPPLY CHAIN ONTOLOGY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B6B66"/>
                </a:solidFill>
                <a:latin typeface="Arial"/>
              </a:rPr>
              <a:t>4 / 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8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2868634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FFFFFF"/>
                </a:solidFill>
                <a:latin typeface="Arial"/>
              </a:rPr>
              <a:t>PHASE 2 — SILVER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Arial"/>
              </a:rPr>
              <a:t>One shipment, four systems,</a:t>
            </a:r>
          </a:p>
          <a:p>
            <a:pPr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Arial"/>
              </a:rPr>
              <a:t>one identity.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035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9A9A"/>
                </a:solidFill>
                <a:latin typeface="Arial"/>
              </a:rPr>
              <a:t>The shipment_crosswalk Dynamic Table resolves the same physical shipment across ERP order, TMS delivery, Supplier Portal ASN, and IoT tracking tag into one canonical_shipment_id — deterministic ID-core matching, not fuzzy guesswork.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246120"/>
            <a:ext cx="576072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331927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800 / 800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338328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A9A"/>
                </a:solidFill>
                <a:latin typeface="Arial"/>
              </a:rPr>
              <a:t>orders matched to a delivery and a shipment (100%)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4023360"/>
            <a:ext cx="576072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09651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800 / 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41605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A9A"/>
                </a:solidFill>
                <a:latin typeface="Arial"/>
              </a:rPr>
              <a:t>supplier identity cross-system match (100%)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4800600"/>
            <a:ext cx="576072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487375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560 / 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493776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A9A"/>
                </a:solidFill>
                <a:latin typeface="Arial"/>
              </a:rPr>
              <a:t>IoT tracking match rate — the genuine 70% sensor-coverage gap, carried through, not hidden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0" y="2011680"/>
            <a:ext cx="3840480" cy="3840480"/>
          </a:xfrm>
          <a:prstGeom prst="ellipse">
            <a:avLst/>
          </a:prstGeom>
          <a:noFill/>
          <a:ln w="3175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100%</a:t>
            </a:r>
          </a:p>
          <a:p>
            <a:pPr algn="ctr"/>
            <a:r>
              <a:rPr sz="1200" b="0" i="0">
                <a:solidFill>
                  <a:srgbClr val="9A9A9A"/>
                </a:solidFill>
                <a:latin typeface="Arial"/>
              </a:rPr>
              <a:t>entity resolution
across 4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9A9A9A"/>
                </a:solidFill>
                <a:latin typeface="Arial"/>
              </a:rPr>
              <a:t>SUPPLY CHAIN ONTOLOGY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9A9A9A"/>
                </a:solidFill>
                <a:latin typeface="Arial"/>
              </a:rPr>
              <a:t>5 / 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3585792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111111"/>
                </a:solidFill>
                <a:latin typeface="Arial"/>
              </a:rPr>
              <a:t>PHASE 3–4 — GOLD + SEMANTIC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11111"/>
                </a:solidFill>
                <a:latin typeface="Arial"/>
              </a:rPr>
              <a:t>9 entities, 10 relationships,</a:t>
            </a:r>
          </a:p>
          <a:p>
            <a:pPr>
              <a:lnSpc>
                <a:spcPct val="100000"/>
              </a:lnSpc>
            </a:pPr>
            <a:r>
              <a:rPr sz="2800" b="1" i="0">
                <a:solidFill>
                  <a:srgbClr val="111111"/>
                </a:solidFill>
                <a:latin typeface="Arial"/>
              </a:rPr>
              <a:t>5 governed metrics.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1600200" cy="502920"/>
          </a:xfrm>
          <a:prstGeom prst="roundRect">
            <a:avLst/>
          </a:prstGeom>
          <a:noFill/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Arial"/>
              </a:rPr>
              <a:t>Supplier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40280" y="2400300.0"/>
            <a:ext cx="320040" cy="0.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60320" y="2148840"/>
            <a:ext cx="1600200" cy="502920"/>
          </a:xfrm>
          <a:prstGeom prst="roundRect">
            <a:avLst/>
          </a:prstGeom>
          <a:noFill/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Arial"/>
              </a:rPr>
              <a:t>Part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60520" y="2400300.0"/>
            <a:ext cx="320040" cy="0.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60" y="2148840"/>
            <a:ext cx="1600200" cy="502920"/>
          </a:xfrm>
          <a:prstGeom prst="roundRect">
            <a:avLst/>
          </a:prstGeom>
          <a:noFill/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Arial"/>
              </a:rPr>
              <a:t>Plant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400300.0"/>
            <a:ext cx="320040" cy="0.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2148840"/>
            <a:ext cx="1600200" cy="502920"/>
          </a:xfrm>
          <a:prstGeom prst="roundRect">
            <a:avLst/>
          </a:prstGeom>
          <a:noFill/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Arial"/>
              </a:rPr>
              <a:t>Shipment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01000" y="2400300.0"/>
            <a:ext cx="320040" cy="0.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21040" y="2148840"/>
            <a:ext cx="1600200" cy="502920"/>
          </a:xfrm>
          <a:prstGeom prst="roundRect">
            <a:avLst/>
          </a:prstGeom>
          <a:noFill/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Arial"/>
              </a:rPr>
              <a:t>Order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21240" y="2400300.0"/>
            <a:ext cx="320040" cy="0.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241280" y="2148840"/>
            <a:ext cx="1600200" cy="502920"/>
          </a:xfrm>
          <a:prstGeom prst="roundRect">
            <a:avLst/>
          </a:prstGeom>
          <a:noFill/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Arial"/>
              </a:rPr>
              <a:t>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6"/>
                </a:solidFill>
                <a:latin typeface="Arial"/>
              </a:rPr>
              <a:t>Plus Purchase Order, Inventory Snapshot, and Landed Cost — 9 semantic-view TABLES total, each backed by a real GOLD dynamic table.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657600"/>
            <a:ext cx="1737360" cy="0"/>
          </a:xfrm>
          <a:prstGeom prst="line">
            <a:avLst/>
          </a:prstGeom>
          <a:ln w="15875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373075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6B66"/>
                </a:solidFill>
                <a:latin typeface="Arial"/>
              </a:rPr>
              <a:t>SEMANTIC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05072"/>
            <a:ext cx="5166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11111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6"/>
                </a:solidFill>
                <a:latin typeface="Arial"/>
              </a:rPr>
              <a:t>supplier, part, plant, customer, shipment, orders, inventory, landed cost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3657600"/>
            <a:ext cx="1737360" cy="0"/>
          </a:xfrm>
          <a:prstGeom prst="line">
            <a:avLst/>
          </a:prstGeom>
          <a:ln w="15875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89320" y="373075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6B66"/>
                </a:solidFill>
                <a:latin typeface="Arial"/>
              </a:rPr>
              <a:t>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005072"/>
            <a:ext cx="5166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177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6"/>
                </a:solidFill>
                <a:latin typeface="Arial"/>
              </a:rPr>
              <a:t>every fact table joined back to its dimensions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4892040"/>
            <a:ext cx="1737360" cy="0"/>
          </a:xfrm>
          <a:prstGeom prst="line">
            <a:avLst/>
          </a:prstGeom>
          <a:ln w="15875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496519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6B66"/>
                </a:solidFill>
                <a:latin typeface="Arial"/>
              </a:rPr>
              <a:t>CANONICAL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39512"/>
            <a:ext cx="5166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11111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6"/>
                </a:solidFill>
                <a:latin typeface="Arial"/>
              </a:rPr>
              <a:t>OTD, customer fill, supplier fill, DOI, landed cost/unit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89320" y="4892040"/>
            <a:ext cx="1737360" cy="0"/>
          </a:xfrm>
          <a:prstGeom prst="line">
            <a:avLst/>
          </a:prstGeom>
          <a:ln w="15875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89320" y="496519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6B66"/>
                </a:solidFill>
                <a:latin typeface="Arial"/>
              </a:rPr>
              <a:t>DIMENSIONS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5239512"/>
            <a:ext cx="5166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11111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585216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6"/>
                </a:solidFill>
                <a:latin typeface="Arial"/>
              </a:rPr>
              <a:t>tier, region, category, segment, date hierarchy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6B6B66"/>
                </a:solidFill>
                <a:latin typeface="Arial"/>
              </a:rPr>
              <a:t>SUPPLY CHAIN ONTOLOGY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B6B66"/>
                </a:solidFill>
                <a:latin typeface="Arial"/>
              </a:rPr>
              <a:t>6 / 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8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784848"/>
            <a:ext cx="4302951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Business meaning, not column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On-Time Delivery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9384"/>
            <a:ext cx="8869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Plant-dock receipt vs. planned. Cancelled / overdue-in-transit always count as late, never dropped.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161848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2D5BFF"/>
                </a:solidFill>
                <a:latin typeface="Arial"/>
              </a:rPr>
              <a:t>64.875%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350008"/>
            <a:ext cx="10972800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441448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Customer Fill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70632"/>
            <a:ext cx="8869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Order-binary: qty_shipped ≥ qty_ordered.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459736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2D5BFF"/>
                </a:solidFill>
                <a:latin typeface="Arial"/>
              </a:rPr>
              <a:t>90.800%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3191256"/>
            <a:ext cx="10972800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3282696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Supplier Fill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8869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Received units / ordered units — deliberately distinct from customer fill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30098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2D5BFF"/>
                </a:solidFill>
                <a:latin typeface="Arial"/>
              </a:rPr>
              <a:t>86.294%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4032504"/>
            <a:ext cx="10972800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4123944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Days of 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53128"/>
            <a:ext cx="8869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On-hand qty / 30-day trailing ACTUAL demand — not forecast, not $-based.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1422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2D5BFF"/>
                </a:solidFill>
                <a:latin typeface="Arial"/>
              </a:rPr>
              <a:t>48.60d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873752"/>
            <a:ext cx="10972800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965192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Landed Cost /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94376"/>
            <a:ext cx="8869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Unit cost + freight + customs + overhead, computed at shipment grain.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983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2D5BFF"/>
                </a:solidFill>
                <a:latin typeface="Arial"/>
              </a:rPr>
              <a:t>$251.68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9A9A9A"/>
                </a:solidFill>
                <a:latin typeface="Arial"/>
              </a:rPr>
              <a:t>SUPPLY CHAIN ONTOLOGY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9A9A9A"/>
                </a:solidFill>
                <a:latin typeface="Arial"/>
              </a:rPr>
              <a:t>7 / 17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5020109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111111"/>
                </a:solidFill>
                <a:latin typeface="Arial"/>
              </a:rPr>
              <a:t>THE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 i="0">
                <a:solidFill>
                  <a:srgbClr val="111111"/>
                </a:solidFill>
                <a:latin typeface="Arial"/>
              </a:rPr>
              <a:t>Stricter, not just different.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6B66"/>
                </a:solidFill>
                <a:latin typeface="Arial"/>
              </a:rPr>
              <a:t>The governed On-Time Delivery answer is lower than every legacy answer — the governance decision closes loopholes each source system used to look better than reality, it doesn't split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09160"/>
            <a:ext cx="9670005" cy="566928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 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2693" y="4709160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  <a:latin typeface="Arial"/>
              </a:rPr>
              <a:t>89.4%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9875520" cy="566928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  TMS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3931920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  <a:latin typeface="Arial"/>
              </a:rPr>
              <a:t>91.3%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54680"/>
            <a:ext cx="8501816" cy="566928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 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4504" y="3154680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  <a:latin typeface="Arial"/>
              </a:rPr>
              <a:t>78.6%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7017243" cy="566928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  Governed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49931" y="2377440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5BFF"/>
                </a:solidFill>
                <a:latin typeface="Arial"/>
              </a:rPr>
              <a:t>64.875%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321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B66"/>
                </a:solidFill>
                <a:latin typeface="Arial"/>
              </a:rPr>
              <a:t>Fill Rate: Supplier PO 86.3% / Warehouse pick 87.7%  →  Governed: Customer 90.8% / Supplier 86.294% (two distinct canonical measures)
Days of Inventory: Planning 40.1d / Finance 506.6d  →  Governed: 48.6d
Landed Cost/Unit: Procurement $276.40 / Logistics $488.29  →  Governed: $251.68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6B6B66"/>
                </a:solidFill>
                <a:latin typeface="Arial"/>
              </a:rPr>
              <a:t>SUPPLY CHAIN ONTOLOGY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B6B66"/>
                </a:solidFill>
                <a:latin typeface="Arial"/>
              </a:rPr>
              <a:t>8 / 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8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5737268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FFFFFF"/>
                </a:solidFill>
                <a:latin typeface="Arial"/>
              </a:rPr>
              <a:t>PHASE 5 — MULTI-AGENT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One router, four specialist agents.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9A9A"/>
                </a:solidFill>
                <a:latin typeface="Arial"/>
              </a:rPr>
              <a:t>A 5-intent classifier (standard, at_risk, what_if, root_cause, document_qa) routes every question to the right sub-agent, behind shared PreQueryValidator / PostQueryEnricher guardrail hooks.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40864"/>
            <a:ext cx="384048" cy="384048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286000"/>
            <a:ext cx="8302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CortexAnalystClient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615184"/>
            <a:ext cx="83027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Governed Q&amp;A against the Semantic View — the "standard" intent.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063240"/>
            <a:ext cx="10972800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40080" y="3209544"/>
            <a:ext cx="384048" cy="384048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154680"/>
            <a:ext cx="8302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SimulationAgent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483864"/>
            <a:ext cx="83027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Hand-written, parameterized SQL for "what-if" supplier-delay scenarios.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931920"/>
            <a:ext cx="10972800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0080" y="4078224"/>
            <a:ext cx="384048" cy="384048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023360"/>
            <a:ext cx="8302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EvidenceTraceAgent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352544"/>
            <a:ext cx="83027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Root-cause trace from a late shipment back to its supplier.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800600"/>
            <a:ext cx="10972800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40080" y="4946904"/>
            <a:ext cx="384048" cy="384048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4892040"/>
            <a:ext cx="8302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DocumentQAAgent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21224"/>
            <a:ext cx="83027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Cortex Search over supplier contract PDFs for the "document_qa" intent.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9A9A9A"/>
                </a:solidFill>
                <a:latin typeface="Arial"/>
              </a:rPr>
              <a:t>SUPPLY CHAIN ONTOLOGY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9A9A9A"/>
                </a:solidFill>
                <a:latin typeface="Arial"/>
              </a:rPr>
              <a:t>9 / 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6454426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111111"/>
                </a:solidFill>
                <a:latin typeface="Arial"/>
              </a:rPr>
              <a:t>GOVERNANCE JUDGING CRITERION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111111"/>
                </a:solidFill>
                <a:latin typeface="Arial"/>
              </a:rPr>
              <a:t>Fails safely, never fabricates.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965960"/>
            <a:ext cx="0" cy="3474720"/>
          </a:xfrm>
          <a:prstGeom prst="line">
            <a:avLst/>
          </a:prstGeom>
          <a:ln w="12700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6112" y="19659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B66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58568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111111"/>
                </a:solidFill>
                <a:latin typeface="Arial"/>
              </a:rPr>
              <a:t>Constrained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8803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Hand-written, parameterized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337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for what_if and root_cause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7947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no LLM-freeform SQL for high-stakes intents.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1965960"/>
            <a:ext cx="0" cy="3474720"/>
          </a:xfrm>
          <a:prstGeom prst="line">
            <a:avLst/>
          </a:prstGeom>
          <a:ln w="12700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47872" y="19659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B66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258568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111111"/>
                </a:solidFill>
                <a:latin typeface="Arial"/>
              </a:rPr>
              <a:t>Vocabulary 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8803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Synonyms + metric comments in 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337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Semantic View constrain the LLM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947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one canonical measure per concept.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1965960"/>
            <a:ext cx="0" cy="3474720"/>
          </a:xfrm>
          <a:prstGeom prst="line">
            <a:avLst/>
          </a:prstGeom>
          <a:ln w="12700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99632" y="19659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B66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258568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111111"/>
                </a:solidFill>
                <a:latin typeface="Arial"/>
              </a:rPr>
              <a:t>PreQueryValidator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8803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Blocks empty/oversized input and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337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FORBIDDEN_TERMS list (drop table,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7947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delete from, grant, alter role...).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95360" y="1965960"/>
            <a:ext cx="0" cy="3474720"/>
          </a:xfrm>
          <a:prstGeom prst="line">
            <a:avLst/>
          </a:prstGeom>
          <a:ln w="12700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851392" y="19659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B66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2258568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111111"/>
                </a:solidFill>
                <a:latin typeface="Arial"/>
              </a:rPr>
              <a:t>Confidence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28803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Below a 0.6 threshold, answers 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3337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prefixed “I'm not confident...” 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37947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of presenting a guess as fact.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B66"/>
                </a:solidFill>
                <a:latin typeface="Arial"/>
              </a:rPr>
              <a:t>Plus PostQueryEnricher (grounds claims in retrieved contract evidence) and try/except fallbacks on every external call in the Streamlit app.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6B6B66"/>
                </a:solidFill>
                <a:latin typeface="Arial"/>
              </a:rPr>
              <a:t>SUPPLY CHAIN ONTOLOGY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B6B66"/>
                </a:solidFill>
                <a:latin typeface="Arial"/>
              </a:rPr>
              <a:t>10 / 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8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7171585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FFFFFF"/>
                </a:solidFill>
                <a:latin typeface="Arial"/>
              </a:rPr>
              <a:t>CHALLENGE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Same question, different words,</a:t>
            </a:r>
          </a:p>
          <a:p>
            <a:pPr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same number.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1490472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 spc="60">
                <a:solidFill>
                  <a:srgbClr val="FFFFFF"/>
                </a:solidFill>
                <a:latin typeface="Arial"/>
              </a:rP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9A9A"/>
                </a:solidFill>
                <a:latin typeface="Arial"/>
              </a:rPr>
              <a:t>“What's our on-time delivery rate?”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286000"/>
            <a:ext cx="1929384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 spc="60">
                <a:solidFill>
                  <a:srgbClr val="FFFFFF"/>
                </a:solidFill>
                <a:latin typeface="Arial"/>
              </a:rPr>
              <a:t>PROCUREMENT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7432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9A9A"/>
                </a:solidFill>
                <a:latin typeface="Arial"/>
              </a:rPr>
              <a:t>“How are we doing on schedule adherence?”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286000"/>
            <a:ext cx="1636776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 spc="60">
                <a:solidFill>
                  <a:srgbClr val="FFFFFF"/>
                </a:solidFill>
                <a:latin typeface="Arial"/>
              </a:rPr>
              <a:t>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7432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9A9A"/>
                </a:solidFill>
                <a:latin typeface="Arial"/>
              </a:rPr>
              <a:t>“Are we hitting our delivery dates?”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94760"/>
            <a:ext cx="10607040" cy="1587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 i="0">
                <a:solidFill>
                  <a:srgbClr val="2D5BFF"/>
                </a:solidFill>
                <a:latin typeface="Arial"/>
              </a:rPr>
              <a:t>64.875%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9A9A"/>
                </a:solidFill>
                <a:latin typeface="Arial"/>
              </a:rPr>
              <a:t>Same base_table + measure_name every time — verified by parsing the generated SQL, not just comparing numbers.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023360"/>
            <a:ext cx="4114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9A9A"/>
                </a:solidFill>
                <a:latin typeface="Arial"/>
              </a:rPr>
              <a:t>Honest caveat: the golden-question suite (tests/test_golden_questions.py) passes 2/5 live. The 3 REST-dependent tests hit a disclosed auth-transport bug (401 via CortexAnalystClient) — not a semantic-view or metric-logic problem. The same metrics are independently proven correct via direct SEMANTIC_VIEW() SQL and the deployed app's SiS-native transport.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9A9A9A"/>
                </a:solidFill>
                <a:latin typeface="Arial"/>
              </a:rPr>
              <a:t>SUPPLY CHAIN ONTOLOGY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9A9A9A"/>
                </a:solidFill>
                <a:latin typeface="Arial"/>
              </a:rPr>
              <a:t>11 / 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7888743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111111"/>
                </a:solidFill>
                <a:latin typeface="Arial"/>
              </a:rPr>
              <a:t>PHASE 7 — STREAMLIT IN SNOWFLAKE, CONTAINER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111111"/>
                </a:solidFill>
                <a:latin typeface="Arial"/>
              </a:rPr>
              <a:t>Ungoverned vs. Governed, live.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6766560" cy="4343400"/>
          </a:xfrm>
          <a:prstGeom prst="roundRect">
            <a:avLst/>
          </a:prstGeom>
          <a:solidFill>
            <a:srgbClr val="ECECE6"/>
          </a:solidFill>
          <a:ln w="15875">
            <a:solidFill>
              <a:srgbClr val="6B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6B6B66"/>
                </a:solidFill>
                <a:latin typeface="Arial"/>
              </a:rPr>
              <a:t>[ SCREENSHOT PLACEHOLDER ]</a:t>
            </a:r>
          </a:p>
          <a:p>
            <a:pPr algn="ctr"/>
            <a:r>
              <a:rPr sz="1200" b="0" i="0">
                <a:solidFill>
                  <a:srgbClr val="6B6B66"/>
                </a:solidFill>
                <a:latin typeface="Arial"/>
              </a:rPr>
              <a:t>Insert: Ungoverned / Governed toggle
+ sidebar trace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5240" y="178308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B66"/>
                </a:solidFill>
                <a:latin typeface="Arial"/>
              </a:rPr>
              <a:t>—  Dominant Ungoverned / Governed toggle — one click switches the transport.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274320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B66"/>
                </a:solidFill>
                <a:latin typeface="Arial"/>
              </a:rPr>
              <a:t>—  Persona chips per metric (e.g. Operations · Logistics · Procurement for OTD).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370332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B66"/>
                </a:solidFill>
                <a:latin typeface="Arial"/>
              </a:rPr>
              <a:t>—  Native left sidebar trace log: Understand → Scope → SQL → Answer, newest expanded.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66344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B66"/>
                </a:solidFill>
                <a:latin typeface="Arial"/>
              </a:rPr>
              <a:t>—  Ungoverned calls a real Cortex Complete call scoped to one department's system; Governed always routes through the Semantic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6B6B66"/>
                </a:solidFill>
                <a:latin typeface="Arial"/>
              </a:rPr>
              <a:t>SUPPLY CHAIN 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B6B66"/>
                </a:solidFill>
                <a:latin typeface="Arial"/>
              </a:rPr>
              <a:t>12 / 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8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8605902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FFFFFF"/>
                </a:solidFill>
                <a:latin typeface="Arial"/>
              </a:rPr>
              <a:t>UNSTRUCTURED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Contracts become queryable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2377440" cy="777240"/>
          </a:xfrm>
          <a:prstGeom prst="roundRect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PDF contract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17520" y="2537460"/>
            <a:ext cx="320040" cy="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37560" y="2148840"/>
            <a:ext cx="2377440" cy="777240"/>
          </a:xfrm>
          <a:prstGeom prst="roundRect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AI_PARSE_DOCUMENT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0" y="2537460"/>
            <a:ext cx="320040" cy="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035040" y="2148840"/>
            <a:ext cx="2377440" cy="777240"/>
          </a:xfrm>
          <a:prstGeom prst="roundRect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Cortex Search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2537460"/>
            <a:ext cx="320040" cy="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32520" y="2148840"/>
            <a:ext cx="2377440" cy="777240"/>
          </a:xfrm>
          <a:prstGeom prst="roundRect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DocumentQAAgent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9A9A"/>
                </a:solidFill>
                <a:latin typeface="Arial"/>
              </a:rPr>
              <a:t>11 synthetic supplier contracts, deterministic-per-supplier payment terms (Net 30/45/60) + a late-delivery penalty clause — except SUP-0015, a deliberate negative-case test with no penalty clause.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10607040" cy="127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5BFF"/>
                </a:solidFill>
                <a:latin typeface="Arial"/>
              </a:rPr>
              <a:t>VALIDATED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“Does our contract with Supplier 002 have an SLA penalty for late delivery?”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9A9A"/>
                </a:solidFill>
                <a:latin typeface="Arial"/>
              </a:rPr>
              <a:t>→ Top hit: SUP-0002_contract.pdf (cosine similarity 0.60, reranker 1.09) — “2% of shipment value per day late, capped at 15%.”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9A9A9A"/>
                </a:solidFill>
                <a:latin typeface="Arial"/>
              </a:rPr>
              <a:t>SUPPLY CHAIN ONTOLOGY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9A9A9A"/>
                </a:solidFill>
                <a:latin typeface="Arial"/>
              </a:rPr>
              <a:t>13 / 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9323060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111111"/>
                </a:solidFill>
                <a:latin typeface="Arial"/>
              </a:rPr>
              <a:t>GOVERNANCE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11111"/>
                </a:solidFill>
                <a:latin typeface="Arial"/>
              </a:rPr>
              <a:t>Least privilege, real external data,</a:t>
            </a:r>
          </a:p>
          <a:p>
            <a:pPr>
              <a:lnSpc>
                <a:spcPct val="100000"/>
              </a:lnSpc>
            </a:pPr>
            <a:r>
              <a:rPr sz="2800" b="1" i="0">
                <a:solidFill>
                  <a:srgbClr val="111111"/>
                </a:solidFill>
                <a:latin typeface="Arial"/>
              </a:rPr>
              <a:t>real cost discipline.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2286000"/>
            <a:ext cx="0" cy="3383280"/>
          </a:xfrm>
          <a:prstGeom prst="line">
            <a:avLst/>
          </a:prstGeom>
          <a:ln w="12700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6112" y="2286000"/>
            <a:ext cx="30815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B66"/>
                </a:solidFill>
                <a:latin typeface="Arial"/>
              </a:rPr>
              <a:t>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578608"/>
            <a:ext cx="308152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111111"/>
                </a:solidFill>
                <a:latin typeface="Arial"/>
              </a:rPr>
              <a:t>Least-privilege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0040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SUPPLY_CHAIN_ANALYST_RO (read-only)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65760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+ TASK_EXECUTOR (operational).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11480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Negative test: CREATE TABLE denied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57200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with “Insufficient privileges.”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78808" y="2286000"/>
            <a:ext cx="0" cy="3383280"/>
          </a:xfrm>
          <a:prstGeom prst="line">
            <a:avLst/>
          </a:prstGeom>
          <a:ln w="12700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34840" y="2286000"/>
            <a:ext cx="30815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B66"/>
                </a:solidFill>
                <a:latin typeface="Arial"/>
              </a:rPr>
              <a:t>MARKETPLACE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578608"/>
            <a:ext cx="308152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111111"/>
                </a:solidFill>
                <a:latin typeface="Arial"/>
              </a:rPr>
              <a:t>Weather enrichment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0040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Pelmorex Frostbyte (free listing)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65760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joined to shipment risk by region.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11480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Honest finding: sample too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57200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for a real weather signal — disclosed.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17536" y="2286000"/>
            <a:ext cx="0" cy="3383280"/>
          </a:xfrm>
          <a:prstGeom prst="line">
            <a:avLst/>
          </a:prstGeom>
          <a:ln w="12700">
            <a:solidFill>
              <a:srgbClr val="D8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73568" y="2286000"/>
            <a:ext cx="30815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B66"/>
                </a:solidFill>
                <a:latin typeface="Arial"/>
              </a:rPr>
              <a:t>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2578608"/>
            <a:ext cx="308152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111111"/>
                </a:solidFill>
                <a:latin typeface="Arial"/>
              </a:rPr>
              <a:t>Legacy queries artifact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20040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Every legacy divergence query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365760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all 4 metrics, published as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411480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Snowsight Workspace (not just .sql)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457200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— click-into, not just readable.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6B6B66"/>
                </a:solidFill>
                <a:latin typeface="Arial"/>
              </a:rPr>
              <a:t>SUPPLY CHAIN ONTOLOGY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B6B66"/>
                </a:solidFill>
                <a:latin typeface="Arial"/>
              </a:rPr>
              <a:t>14 / 17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8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0040219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FFFFFF"/>
                </a:solidFill>
                <a:latin typeface="Arial"/>
              </a:rPr>
              <a:t>HOW THIS WAS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CoCo end-to-end: plan → build → run → validate.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20824"/>
            <a:ext cx="8869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8 dated CoCo planning-session artifacts, 2026-09-12 → 2026-09-23 (.snowflake/cortex/plans/, .cortex/plans/) — ontology, pipeline, app UX, and gap-closing plans, each with a timestamped frontmatter.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651760"/>
            <a:ext cx="10972800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743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2384"/>
            <a:ext cx="8869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29 commits across 5 SQL phases + agents/agent_router.py + the Streamlit app — every phase folder has a README explaining why, not just what.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703320"/>
            <a:ext cx="10972800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79476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23944"/>
            <a:ext cx="8869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28 Dynamic Tables (TARGET_LAG-scheduled) + Cortex Search, run live; pause/resume ops scripts; real 30-day cost: 8.79 warehouse credits, 1.14 Cortex Analyst+Search credits.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4754880"/>
            <a:ext cx="10972800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484632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 i="0">
                <a:solidFill>
                  <a:srgbClr val="FFFFFF"/>
                </a:solidFill>
                <a:latin typeface="Arial"/>
              </a:rPr>
              <a:t>Testing &amp;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75504"/>
            <a:ext cx="8869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A9A9A"/>
                </a:solidFill>
                <a:latin typeface="Arial"/>
              </a:rPr>
              <a:t>reflect_semantic_model run pre-deploy; manual cross-check against raw fact table (exact match); golden-question suite — 2/5 passing, disclosed not hidden.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9A9A9A"/>
                </a:solidFill>
                <a:latin typeface="Arial"/>
              </a:rPr>
              <a:t>SUPPLY CHAIN ONTOLOGY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9A9A9A"/>
                </a:solidFill>
                <a:latin typeface="Arial"/>
              </a:rPr>
              <a:t>15 / 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0757377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111111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111111"/>
                </a:solidFill>
                <a:latin typeface="Arial"/>
              </a:rPr>
              <a:t>Built, and what's honestly still ahead.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905256" cy="29260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 spc="6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965960"/>
            <a:ext cx="324612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i="0" spc="60">
                <a:solidFill>
                  <a:srgbClr val="111111"/>
                </a:solidFill>
                <a:latin typeface="Arial"/>
              </a:rPr>
              <a:t>DEFERRED BY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6"/>
                </a:solidFill>
                <a:latin typeface="Arial"/>
              </a:rPr>
              <a:t>✓  Custom tools + function calling (4 tool schemas)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35808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6"/>
                </a:solidFill>
                <a:latin typeface="Arial"/>
              </a:rPr>
              <a:t>✓  Multi-agent orchestration with shared guardrail 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02736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6"/>
                </a:solidFill>
                <a:latin typeface="Arial"/>
              </a:rPr>
              <a:t>✓  Layered hallucination-mitigation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9664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6"/>
                </a:solidFill>
                <a:latin typeface="Arial"/>
              </a:rPr>
              <a:t>✓  RBAC least-privilege split, negative-tested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36592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6"/>
                </a:solidFill>
                <a:latin typeface="Arial"/>
              </a:rPr>
              <a:t>✓  Marketplace enrichment + Workspace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46888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6"/>
                </a:solidFill>
                <a:latin typeface="Arial"/>
              </a:rPr>
              <a:t>–  Reusable CoCo skill packaging (skills/) — P3 stretch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182112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6"/>
                </a:solidFill>
                <a:latin typeface="Arial"/>
              </a:rPr>
              <a:t>–  MCP connectors — blocked by no External Access Integration on this trial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895344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6"/>
                </a:solidFill>
                <a:latin typeface="Arial"/>
              </a:rPr>
              <a:t>–  AUTOMATION schema, Snowflake Tasks, Slack/email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608576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6"/>
                </a:solidFill>
                <a:latin typeface="Arial"/>
              </a:rPr>
              <a:t>–  Rewiring the app to connect as the read-only role (roles exist, grant-complete; wiring not done)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6B6B66"/>
                </a:solidFill>
                <a:latin typeface="Arial"/>
              </a:rPr>
              <a:t>SUPPLY CHAIN ONTOLOGY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B6B66"/>
                </a:solidFill>
                <a:latin typeface="Arial"/>
              </a:rPr>
              <a:t>16 / 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8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1474536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180">
                <a:solidFill>
                  <a:srgbClr val="FFFFFF"/>
                </a:solidFill>
                <a:latin typeface="Arial"/>
              </a:rPr>
              <a:t>JUDGING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Real-world relevance. Technical execution.</a:t>
            </a:r>
          </a:p>
          <a:p>
            <a:pPr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Solution completeness.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1097280" cy="381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REAL-WORLD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326440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9A9A"/>
                </a:solidFill>
                <a:latin typeface="Arial"/>
              </a:rPr>
              <a:t>Genuine multi-system fragmentation, readable in table comments — not staged for the demo.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2377440"/>
            <a:ext cx="1097280" cy="381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78808" y="2606040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TECHNICAL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8" y="3017520"/>
            <a:ext cx="326440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9A9A"/>
                </a:solidFill>
                <a:latin typeface="Arial"/>
              </a:rPr>
              <a:t>Full medallion pipeline + native Semantic View + multi-agent router + deployed Streamlit app, all in-repo and commented.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17536" y="2377440"/>
            <a:ext cx="1097280" cy="381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2606040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SOLUTION COMPLETENESS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536" y="3017520"/>
            <a:ext cx="326440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9A9A"/>
                </a:solidFill>
                <a:latin typeface="Arial"/>
              </a:rPr>
              <a:t>Ontology → governance → app, end to end, with every gap disclosed rather than hidden.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92040"/>
            <a:ext cx="10607040" cy="127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D5BFF"/>
                </a:solidFill>
                <a:latin typeface="Arial"/>
              </a:rPr>
              <a:t>Ask it three ways. Get one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 spc="100">
                <a:solidFill>
                  <a:srgbClr val="9A9A9A"/>
                </a:solidFill>
                <a:latin typeface="Arial"/>
              </a:rPr>
              <a:t>SUPPLY CHAIN ONTOLOGY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9A9A9A"/>
                </a:solidFill>
                <a:latin typeface="Arial"/>
              </a:rPr>
              <a:t>17 / 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